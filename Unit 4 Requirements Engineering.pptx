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7" r:id="rId2"/>
    <p:sldId id="287" r:id="rId3"/>
    <p:sldId id="288" r:id="rId4"/>
    <p:sldId id="289" r:id="rId5"/>
    <p:sldId id="290" r:id="rId6"/>
    <p:sldId id="291" r:id="rId7"/>
    <p:sldId id="292" r:id="rId8"/>
    <p:sldId id="293" r:id="rId9"/>
    <p:sldId id="294" r:id="rId10"/>
    <p:sldId id="295" r:id="rId11"/>
    <p:sldId id="296" r:id="rId12"/>
    <p:sldId id="297" r:id="rId13"/>
    <p:sldId id="298" r:id="rId14"/>
    <p:sldId id="299" r:id="rId15"/>
    <p:sldId id="30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4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abar Khatri" userId="e95e786e96651ab4" providerId="LiveId" clId="{A6504D65-A241-441E-BA6F-1F54E5FBF3E2}"/>
    <pc:docChg chg="modSld">
      <pc:chgData name="Natabar Khatri" userId="e95e786e96651ab4" providerId="LiveId" clId="{A6504D65-A241-441E-BA6F-1F54E5FBF3E2}" dt="2025-08-11T16:40:38.355" v="1" actId="403"/>
      <pc:docMkLst>
        <pc:docMk/>
      </pc:docMkLst>
      <pc:sldChg chg="modSp mod">
        <pc:chgData name="Natabar Khatri" userId="e95e786e96651ab4" providerId="LiveId" clId="{A6504D65-A241-441E-BA6F-1F54E5FBF3E2}" dt="2025-08-11T16:40:38.355" v="1" actId="403"/>
        <pc:sldMkLst>
          <pc:docMk/>
          <pc:sldMk cId="3784354071" sldId="299"/>
        </pc:sldMkLst>
        <pc:spChg chg="mod">
          <ac:chgData name="Natabar Khatri" userId="e95e786e96651ab4" providerId="LiveId" clId="{A6504D65-A241-441E-BA6F-1F54E5FBF3E2}" dt="2025-08-11T16:40:38.355" v="1" actId="403"/>
          <ac:spMkLst>
            <pc:docMk/>
            <pc:sldMk cId="3784354071" sldId="299"/>
            <ac:spMk id="5" creationId="{99B7AE85-2774-BD64-BEE2-B4635B6C5F7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5DF6BD-12FA-4C0F-9014-1912F3884311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92A485-F2A7-4CAB-9572-A34374A6A1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61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E0B3-7D16-9486-688D-B681E4CA3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133B5-281B-6F95-2CB0-BB15BAB46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D3B886-FD62-013D-DC9B-DA1014B9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18AB1C-19AB-E7C4-4B7C-4E9D270CEF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6745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B6ABB-9265-DAAA-89A2-5A50C031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48832-0A8D-F56B-F493-F2CFDE4EA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232761-CF55-6E77-666B-56260DC60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17934-E642-C9EC-0EB6-69ADC61EF6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52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EE5F3-674C-BC26-FBE1-EA6DC38A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552AC-CFDC-BD34-40A6-A40C2F6FF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A967DD-1C8D-3D46-6452-3788C7047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19231-BE85-4BDB-305E-3BE89B467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831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95A45-293B-6420-9FD2-81792778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DDA35-8B6B-DBC0-8897-BB841DE98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8C38C-CBF2-B185-937E-C6C06C301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C4F9B-6E0B-DB04-5CFD-16AD124394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125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82542-806A-5D00-1C8B-FDCE4F6B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3CEE4-AFBA-EDFD-7905-48C6E3045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8DE801-EEFA-503E-9060-4CEB3CA2B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101D0-073C-C049-B1AC-A184BC7CA6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628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04924-1216-D90A-74C1-9F6F8501F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85775-34F2-E0A6-2BF5-9CDEF4E76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879C82-920D-8BC7-958E-D74AB2D45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05B2F-6F7D-3557-AAFE-F1A1857BF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103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10282-AA02-C05E-6989-3581F6CF0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AD73BF-02C9-D535-1A9A-8D91271AC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09430-9722-0BED-34EC-5C94B939F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BB798-EDA8-90F8-CF62-E1913B321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164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1F56E-3CEE-D04A-C293-B54E3A2EF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E9C65F-8680-4455-D33B-F0E81DCAE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D9726-3756-CA6C-9A27-ADB8C9D6E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A748B-3414-6C02-9840-0129F3423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9719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4EE31-7D99-257A-0B8E-56E1DE16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619AA6-2790-C03C-768A-F41A31C2B8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DD476-AF08-FF23-3C55-C8453E39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64000-5196-CC36-E5E5-F21443377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1794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09B39-AD73-FC13-F256-9FB41270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1B5F7-F2A0-E211-DA67-CA108CF4F2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A786A-4D31-7E4C-2E82-6AAC0BF80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DEA6C-8618-0AD2-C72E-E00186DB4D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5611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02B68-20E1-3B10-CD2D-4129FAACD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63707-EC4B-26BE-5D94-E485CB95E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418A6-DBC2-F9FB-7DD6-3AF9E750C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340F8-EFD8-1A9D-536C-254449F4DC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0532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DA0B2-443F-EFD9-B54B-438384144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100E2-C625-6EAD-0160-2DE3E036F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1EE25-7D14-6F9D-F129-7A8F2C675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0677E-1ADD-C033-D15C-FE7952074F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4850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AC1BA-C9CB-36E2-9B5A-38CBD1185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8DC60-0A72-5BCA-3458-23A6D5B23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E992CF-AADE-D4BB-3097-44059EB77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DCC80-F690-7C4B-2CA9-B8806D93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800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B3D4C-58FA-5A22-3950-EDD55306E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7BF3C-15DD-171C-9014-806AE19B3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FB886-9042-9EC1-6925-1D14002ED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8E8D9-D113-EC59-6E0B-84A8FA39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7AC08-7009-48DE-B720-1275489B98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336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919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9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54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917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50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624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4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57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991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38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956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8FF98CE-4BC3-4B0F-980A-5AEFDE942DB0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3F01F100-6A27-4289-B0F1-7DD35C009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2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111E4-6085-6205-A156-1987675AAA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engineering (3 Hrs.)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8DFF9D-1BD1-C854-0FA0-0F2CC1D18C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Prepared by: Natabar Khatri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Summit College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EDF19F-9D06-74AC-94F5-5216E57C9DDD}"/>
              </a:ext>
            </a:extLst>
          </p:cNvPr>
          <p:cNvSpPr/>
          <p:nvPr/>
        </p:nvSpPr>
        <p:spPr>
          <a:xfrm>
            <a:off x="8216856" y="4195246"/>
            <a:ext cx="21852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Unit  4</a:t>
            </a:r>
          </a:p>
        </p:txBody>
      </p:sp>
    </p:spTree>
    <p:extLst>
      <p:ext uri="{BB962C8B-B14F-4D97-AF65-F5344CB8AC3E}">
        <p14:creationId xmlns:p14="http://schemas.microsoft.com/office/powerpoint/2010/main" val="1579747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543A-C20B-01B7-1DC9-DCA8B02F0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653C-F954-6A65-3E16-9B6E04FF5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Concept of User and System Requirements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83D897-3458-E90F-6D5C-FF781F591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240832"/>
            <a:ext cx="10379311" cy="5242264"/>
          </a:xfrm>
        </p:spPr>
        <p:txBody>
          <a:bodyPr>
            <a:normAutofit/>
          </a:bodyPr>
          <a:lstStyle/>
          <a:p>
            <a:pPr marL="228600" lvl="1" indent="-228600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form the foundation of any software system, defining what it should do and how it should behave.</a:t>
            </a:r>
          </a:p>
          <a:p>
            <a:pPr marL="228600" lvl="1" indent="-228600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bridge the gap between stakeholder needs and technical implementation.</a:t>
            </a:r>
          </a:p>
          <a:p>
            <a:pPr marL="228600" lvl="1" indent="-228600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are typically categorized into two main types:</a:t>
            </a:r>
          </a:p>
          <a:p>
            <a:pPr lvl="1" indent="-284163">
              <a:buFont typeface="+mj-lt"/>
              <a:buAutoNum type="arabicPeriod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</a:t>
            </a:r>
          </a:p>
          <a:p>
            <a:pPr lvl="1" indent="-284163">
              <a:buFont typeface="+mj-lt"/>
              <a:buAutoNum type="arabicPeriod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8423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0C69A-E3AD-E962-276B-68B3F190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65FC9-D412-4664-62B1-871811B44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430478-FC79-C7BA-03C2-153FCA932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240832"/>
            <a:ext cx="10379311" cy="5242264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 describe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system should do from the perspective of end-users and stakeholders.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high-level, often written in natural language (with supporting diagrams), and focus on business needs rather than technical details.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&amp; Goal-Oriented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Describe functionality in broad terms (e.g., "The system shall generate monthly drug cost reports").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Audience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Business managers, end-users, and non-technical stakeholders.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May evolve during early discussions before being refined into system requirements.</a:t>
            </a:r>
          </a:p>
        </p:txBody>
      </p:sp>
    </p:spTree>
    <p:extLst>
      <p:ext uri="{BB962C8B-B14F-4D97-AF65-F5344CB8AC3E}">
        <p14:creationId xmlns:p14="http://schemas.microsoft.com/office/powerpoint/2010/main" val="3460427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E2718-11E3-D935-0BFE-9C9631F81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39352-99B2-9704-48E7-214C2A3DC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3176C2-6AFF-8B22-47B5-27BD59592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240832"/>
            <a:ext cx="10379311" cy="5242264"/>
          </a:xfrm>
        </p:spPr>
        <p:txBody>
          <a:bodyPr>
            <a:no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(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Mentcare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lvl="1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Requirement:</a:t>
            </a:r>
          </a:p>
          <a:p>
            <a:pPr lvl="1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"The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Mentcare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 shall generate monthly management reports showing the cost of drugs prescribed by each clinic during that month.“</a:t>
            </a:r>
          </a:p>
          <a:p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stakeholders agree on system objectives.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Guides developers in deriving detailed system requirements.</a:t>
            </a:r>
          </a:p>
        </p:txBody>
      </p:sp>
    </p:spTree>
    <p:extLst>
      <p:ext uri="{BB962C8B-B14F-4D97-AF65-F5344CB8AC3E}">
        <p14:creationId xmlns:p14="http://schemas.microsoft.com/office/powerpoint/2010/main" val="814434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9E0B1-DCB8-9B8A-1776-45B334749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60164-31C2-2E1D-E843-92AF65F33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0867BF-65E2-4A02-A9AE-2E0C274FC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240832"/>
            <a:ext cx="10379311" cy="5242264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 specify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system will fulfill user requirements. They are detailed, precise, and often structured for developers, testers, and architects.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&amp; Specific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Define exact behavior, constraints, and interfaces.</a:t>
            </a: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Audience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Developers, system architects, and QA teams.</a:t>
            </a: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May include data formats, algorithms, and performance criteria.</a:t>
            </a:r>
          </a:p>
        </p:txBody>
      </p:sp>
    </p:spTree>
    <p:extLst>
      <p:ext uri="{BB962C8B-B14F-4D97-AF65-F5344CB8AC3E}">
        <p14:creationId xmlns:p14="http://schemas.microsoft.com/office/powerpoint/2010/main" val="2721032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0A518-D21C-1737-6879-0B9ABE48E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7360-9EE1-BDD8-AF39-E62634892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653B59-9FD1-2763-85AE-101CBD9D2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240832"/>
            <a:ext cx="10379311" cy="52422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(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Mentcare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lvl="1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"On the last working day of each month, generate a drug summary report by clinic."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"Restrict report access to users on the management ACL."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"Separate reports by drug dose units (e.g., 10mg vs. 20mg)."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Serves as a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contract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between clients and developers.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blueprint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for implementation and testing.</a:t>
            </a:r>
          </a:p>
        </p:txBody>
      </p:sp>
    </p:spTree>
    <p:extLst>
      <p:ext uri="{BB962C8B-B14F-4D97-AF65-F5344CB8AC3E}">
        <p14:creationId xmlns:p14="http://schemas.microsoft.com/office/powerpoint/2010/main" val="3254645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D3DF5-7D7E-EA2A-78E7-152DC1072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B698A-36D6-F9AE-CED0-376C10943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 VS System Requirements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F8445D40-116E-189E-90AD-4EAD5FB288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9902058"/>
              </p:ext>
            </p:extLst>
          </p:nvPr>
        </p:nvGraphicFramePr>
        <p:xfrm>
          <a:off x="859536" y="1527049"/>
          <a:ext cx="9656064" cy="46100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61020">
                  <a:extLst>
                    <a:ext uri="{9D8B030D-6E8A-4147-A177-3AD203B41FA5}">
                      <a16:colId xmlns:a16="http://schemas.microsoft.com/office/drawing/2014/main" val="537442126"/>
                    </a:ext>
                  </a:extLst>
                </a:gridCol>
                <a:gridCol w="3509193">
                  <a:extLst>
                    <a:ext uri="{9D8B030D-6E8A-4147-A177-3AD203B41FA5}">
                      <a16:colId xmlns:a16="http://schemas.microsoft.com/office/drawing/2014/main" val="2274475451"/>
                    </a:ext>
                  </a:extLst>
                </a:gridCol>
                <a:gridCol w="4185851">
                  <a:extLst>
                    <a:ext uri="{9D8B030D-6E8A-4147-A177-3AD203B41FA5}">
                      <a16:colId xmlns:a16="http://schemas.microsoft.com/office/drawing/2014/main" val="1523575320"/>
                    </a:ext>
                  </a:extLst>
                </a:gridCol>
              </a:tblGrid>
              <a:tr h="847422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Aspect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Requirements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System Requirements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395024369"/>
                  </a:ext>
                </a:extLst>
              </a:tr>
              <a:tr h="847422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 of Detail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High-level, abstract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Detailed, technical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299564319"/>
                  </a:ext>
                </a:extLst>
              </a:tr>
              <a:tr h="847422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Audience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Business stakeholders, end-users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Developers, testers, architects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547741187"/>
                  </a:ext>
                </a:extLst>
              </a:tr>
              <a:tr h="847422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Focus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What the system should do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How the system will do it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043036133"/>
                  </a:ext>
                </a:extLst>
              </a:tr>
              <a:tr h="1017721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Format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Natural language + diagrams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Structured specifications (e.g., SRS)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71314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1081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4CDBC-4769-34AC-7DA0-4924F0727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45AE5-CE55-366C-D337-009A9141F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37" y="266264"/>
            <a:ext cx="10563497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Both Are Necessary?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8C9E20-F394-01AE-F095-A3A6D9858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307592"/>
            <a:ext cx="10470751" cy="5020056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Stakeholders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 ensure the system aligns with business goals.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Non-technical readers (e.g., clinic managers) need clarity without implementation details.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Developers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 eliminate ambiguity for accurate implementation.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A "monthly report" (user req.) becomes "generate CSV every 1st day at 2 AM" (system req.).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Compliance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Regulators (e.g., medical ethics boards) may audit system requirements for safety.</a:t>
            </a:r>
          </a:p>
        </p:txBody>
      </p:sp>
    </p:spTree>
    <p:extLst>
      <p:ext uri="{BB962C8B-B14F-4D97-AF65-F5344CB8AC3E}">
        <p14:creationId xmlns:p14="http://schemas.microsoft.com/office/powerpoint/2010/main" val="3040618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5C3FE-95C3-BA1D-8908-86E023119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37835-2B85-A0A4-797E-824E28215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and Non-functional Requirements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36463C-BCE7-9717-FE8E-4D50B5378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307592"/>
            <a:ext cx="10470751" cy="5020056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in software development are categorized into two fundamental types: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Functional requirements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(what the system does)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Defines the system capabilities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Non-functional requirements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(how well the system performs).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Defines the system quality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Together, they define the complete behavior and quality of a software system.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772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BDE6B-CF3A-D3DA-CF0D-B307E001A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9F3EC-9616-AF4C-48DD-264015B4D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287E2D-CA49-309A-0782-9C7C079DD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307592"/>
            <a:ext cx="10470751" cy="5020056"/>
          </a:xfrm>
        </p:spPr>
        <p:txBody>
          <a:bodyPr>
            <a:normAutofit fontScale="92500"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 specify the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actions, services, and behaviors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system must perform. They describe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system should do in response to specific inputs or conditions.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Action-Oriented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Define specific operations (e.g., calculations, data processing).</a:t>
            </a: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Input-Output Based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Specify how the system reacts to user actions or external events.</a:t>
            </a: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Testable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be verified through functional testing (e.g., unit tests, user acceptance tests).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 (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Mentcare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"A user shall be able to search appointment lists for all clinics."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"The system shall generate daily patient attendance lists per clinic."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"Staff must log in using an 8-digit employee ID."</a:t>
            </a:r>
          </a:p>
        </p:txBody>
      </p:sp>
    </p:spTree>
    <p:extLst>
      <p:ext uri="{BB962C8B-B14F-4D97-AF65-F5344CB8AC3E}">
        <p14:creationId xmlns:p14="http://schemas.microsoft.com/office/powerpoint/2010/main" val="630907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F87E5-C525-CC49-000B-2C75F99A6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EFB0C-3F10-F48E-FE1F-C50B05EC2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EA77BF-69F4-5AE8-46D0-B6675FE26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307592"/>
            <a:ext cx="10470751" cy="5020056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 (NFRs) specify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constraints and quality standards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for the system. They describe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well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system performs its functions.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Categories of NFRs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NFRs can be classified into three broad types:</a:t>
            </a:r>
          </a:p>
          <a:p>
            <a:pPr marL="274320" lvl="1" indent="0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Product Requirements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lvl="1" indent="0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Organizational Requirements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lvl="1" indent="0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External Requirements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61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36E96-770E-82CE-96A3-98526DC5C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CD13D-D30C-DAC4-DDEE-5058A8B8B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F9183C-FA07-CB6C-5F96-6BC2C3B4C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307592"/>
            <a:ext cx="10470751" cy="50200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Product Requirements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runtime behavior and system attributes:</a:t>
            </a:r>
          </a:p>
          <a:p>
            <a:pPr lvl="1">
              <a:lnSpc>
                <a:spcPct val="10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"Downtime shall not exceed 5 seconds during working hours."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0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"System availability must be 99.9%."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0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Usability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"Medical staff shall master all functions within 2 hours of training."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Organizational Requirements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Derived from company policies or processes:</a:t>
            </a:r>
          </a:p>
          <a:p>
            <a:pPr lvl="1">
              <a:lnSpc>
                <a:spcPct val="10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"Users must authenticate via health authority ID cards."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0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Standards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"Use Python 3.10 for backend services."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123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410A9-6AEA-9D83-E33C-CAEFDB88E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58E08-A85F-C2F7-3DA3-25E8C8D21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DB0F0E-C9BE-3C97-1325-17EB7FFBC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140823"/>
            <a:ext cx="10470751" cy="5186825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External Requirements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Imposed by laws, regulations, or ethics:</a:t>
            </a:r>
          </a:p>
          <a:p>
            <a:pPr lvl="0"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Privacy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"Conform to HStan-03-2006-priv for patient data."</a:t>
            </a:r>
          </a:p>
          <a:p>
            <a:pPr lvl="0"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"Comply with FDA regulations for medical devices."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NFRs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System Success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>
              <a:lnSpc>
                <a:spcPct val="11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slow but functional system frustrates users.</a:t>
            </a:r>
          </a:p>
          <a:p>
            <a:pPr lvl="1">
              <a:lnSpc>
                <a:spcPct val="11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fast but insecure system risks data breaches.</a:t>
            </a:r>
          </a:p>
          <a:p>
            <a:pPr lvl="0"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Influence Architecture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>
              <a:lnSpc>
                <a:spcPct val="11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needs may require distributed systems.</a:t>
            </a:r>
          </a:p>
          <a:p>
            <a:pPr lvl="1">
              <a:lnSpc>
                <a:spcPct val="11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security needs may mandate encryption protocols.</a:t>
            </a:r>
          </a:p>
        </p:txBody>
      </p:sp>
    </p:spTree>
    <p:extLst>
      <p:ext uri="{BB962C8B-B14F-4D97-AF65-F5344CB8AC3E}">
        <p14:creationId xmlns:p14="http://schemas.microsoft.com/office/powerpoint/2010/main" val="3349301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50BD6-E82D-7BB1-40F4-C679CB4EC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A8F2-4A2E-0B73-1F7D-BE2EDF498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Engineering Process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B7AE85-2774-BD64-BEE2-B4635B6C5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140823"/>
            <a:ext cx="10470751" cy="5186825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Engineering (RE) is a systematic process for discovering, documenting, and validating the needs and constraints for a software system.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three main activities in the requirements engineering process:</a:t>
            </a:r>
          </a:p>
          <a:p>
            <a:pPr lvl="0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Elicitation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Gathering and understanding stakeholder needs through collaboration using various techniques like interviews, surveys, observations and workshops.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help to understand the system to be specified.</a:t>
            </a:r>
          </a:p>
        </p:txBody>
      </p:sp>
    </p:spTree>
    <p:extLst>
      <p:ext uri="{BB962C8B-B14F-4D97-AF65-F5344CB8AC3E}">
        <p14:creationId xmlns:p14="http://schemas.microsoft.com/office/powerpoint/2010/main" val="3784354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F2DDF-756F-FD5B-9342-CECAFD755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988E0-CF59-8ABE-ED2B-5345D732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266264"/>
            <a:ext cx="11173968" cy="874559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Engineering Process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6F4B0-37DB-1EEA-104C-42652B3BA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" y="1140823"/>
            <a:ext cx="10470751" cy="5186825"/>
          </a:xfrm>
        </p:spPr>
        <p:txBody>
          <a:bodyPr>
            <a:noAutofit/>
          </a:bodyPr>
          <a:lstStyle/>
          <a:p>
            <a:pPr lvl="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Analysis and Specification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elicited needs are converted into structured documentation.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types of requirements may be included in this document.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requirements are abstract statements of the system requirements for the customer and end-user of the system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 are a more detailed description of the functionality to be provided.</a:t>
            </a:r>
          </a:p>
          <a:p>
            <a:pPr lvl="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Validation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goal of requirements validation is to ensure requirements are correct, complete, and aligned with stakeholder needs.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process, errors in the requirements document are inevitably discovered.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must then be modified to correct these problems.</a:t>
            </a:r>
          </a:p>
          <a:p>
            <a:pPr>
              <a:lnSpc>
                <a:spcPct val="11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64904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293</TotalTime>
  <Words>1081</Words>
  <Application>Microsoft Office PowerPoint</Application>
  <PresentationFormat>Widescreen</PresentationFormat>
  <Paragraphs>140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Calibri</vt:lpstr>
      <vt:lpstr>Rockwell</vt:lpstr>
      <vt:lpstr>Rockwell Condensed</vt:lpstr>
      <vt:lpstr>Times New Roman</vt:lpstr>
      <vt:lpstr>Wingdings</vt:lpstr>
      <vt:lpstr>Wood Type</vt:lpstr>
      <vt:lpstr>Requirements engineering (3 Hrs.)</vt:lpstr>
      <vt:lpstr>Concept of User and System Requirements</vt:lpstr>
      <vt:lpstr>User Requirements</vt:lpstr>
      <vt:lpstr>User Requirements</vt:lpstr>
      <vt:lpstr>System Requirements</vt:lpstr>
      <vt:lpstr>System Requirements</vt:lpstr>
      <vt:lpstr>User Requirements VS System Requirements</vt:lpstr>
      <vt:lpstr>Why Both Are Necessary?</vt:lpstr>
      <vt:lpstr>Functional and Non-functional Requirements</vt:lpstr>
      <vt:lpstr>Functional Requirements</vt:lpstr>
      <vt:lpstr>Non-functional Requirements</vt:lpstr>
      <vt:lpstr>Non-functional Requirements</vt:lpstr>
      <vt:lpstr>Non-functional Requirements</vt:lpstr>
      <vt:lpstr>Requirements Engineering Process</vt:lpstr>
      <vt:lpstr>Requirements Engineering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Natabar Khatri</dc:creator>
  <cp:lastModifiedBy>Natabar Khatri</cp:lastModifiedBy>
  <cp:revision>3</cp:revision>
  <dcterms:created xsi:type="dcterms:W3CDTF">2025-07-14T02:11:35Z</dcterms:created>
  <dcterms:modified xsi:type="dcterms:W3CDTF">2025-08-11T16:43:36Z</dcterms:modified>
</cp:coreProperties>
</file>